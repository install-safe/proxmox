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56" r:id="rId3"/>
    <p:sldId id="259" r:id="rId4"/>
    <p:sldId id="260" r:id="rId5"/>
    <p:sldId id="263" r:id="rId6"/>
    <p:sldId id="264" r:id="rId7"/>
    <p:sldId id="265" r:id="rId8"/>
    <p:sldId id="266" r:id="rId9"/>
    <p:sldId id="268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3EF092-67FB-A239-7801-6086112480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B75B6BE-F095-78ED-1BD3-DC868599C3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C54C2DF-76DC-FD78-D45D-C13D986B1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A3265-7178-482B-BBE7-FC2A016D8768}" type="datetimeFigureOut">
              <a:rPr lang="zh-TW" altLang="en-US" smtClean="0"/>
              <a:t>2025/12/3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E99E2C4-E83F-365E-A375-7D9380B71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C5350ED-F701-8AF6-C464-A82CD9072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8B9DD-8056-4869-AFD4-AA4D7A61E0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3391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2BE93A-389A-A9E9-AA90-AD23F757E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6FA153F-66FC-1F39-B2FE-A0A4A85CA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41EDD5A-678B-1022-3729-7926B043E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A3265-7178-482B-BBE7-FC2A016D8768}" type="datetimeFigureOut">
              <a:rPr lang="zh-TW" altLang="en-US" smtClean="0"/>
              <a:t>2025/12/3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19A148E-DF61-E6B6-8ABD-03E01D077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525D2D1-0F64-4FE3-06CA-75400D926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8B9DD-8056-4869-AFD4-AA4D7A61E0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0665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7FE298-97FA-F6C1-3ADB-8E85669F9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C0F963C-E317-DB07-C3D9-1B5CF7C50F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7E96165-7EBA-9C43-43BD-5828D224A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A3265-7178-482B-BBE7-FC2A016D8768}" type="datetimeFigureOut">
              <a:rPr lang="zh-TW" altLang="en-US" smtClean="0"/>
              <a:t>2025/12/3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7DF3E22-33B2-00BF-C111-DECE543D2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35419B9-BDE1-7B31-3EE3-A728B263B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8B9DD-8056-4869-AFD4-AA4D7A61E0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7997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6B0F52-ECF8-FB67-0A22-DCE63114C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19BA38D-1A08-2F9C-97D3-9CC04DF219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8B1DC54-EA77-FE73-0245-3D119D0564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833B6ED-2BD9-48A1-B666-CBF4D654E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A3265-7178-482B-BBE7-FC2A016D8768}" type="datetimeFigureOut">
              <a:rPr lang="zh-TW" altLang="en-US" smtClean="0"/>
              <a:t>2025/12/3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871CD23-589E-2196-1D54-7894097E1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4FECEF8-5C98-CCFD-B405-CBFD34DD6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8B9DD-8056-4869-AFD4-AA4D7A61E0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0710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EC137E-F3F4-7FB4-5C85-98986F921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B42D525-E1A0-D529-AC95-050B5AA4F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5A518C2-0CDE-5F4E-E6D9-7B71546F2B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CD95AB5-0291-E466-94E7-6CFB601DA6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9A85A29-5839-1D0E-B761-3C0D9A0951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C520A80-0807-2554-8A34-F701029F2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A3265-7178-482B-BBE7-FC2A016D8768}" type="datetimeFigureOut">
              <a:rPr lang="zh-TW" altLang="en-US" smtClean="0"/>
              <a:t>2025/12/3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70FFAA17-827D-7F9B-68BB-484E6BB80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6520775-294D-AD0D-E4A2-1A93E3C33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8B9DD-8056-4869-AFD4-AA4D7A61E0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0389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664152-CE60-329C-D7CC-25EB8968C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085CD07-7AA9-01A0-DF00-D547A1D90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A3265-7178-482B-BBE7-FC2A016D8768}" type="datetimeFigureOut">
              <a:rPr lang="zh-TW" altLang="en-US" smtClean="0"/>
              <a:t>2025/12/3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4C15B9D-A1A6-9210-ABBA-376774D23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F02C5DF-31B7-12E7-B853-9A3F25DDF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8B9DD-8056-4869-AFD4-AA4D7A61E0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451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0C4ADC7-A89A-FF52-F682-71D8DD33A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A3265-7178-482B-BBE7-FC2A016D8768}" type="datetimeFigureOut">
              <a:rPr lang="zh-TW" altLang="en-US" smtClean="0"/>
              <a:t>2025/12/3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2F7C03FB-EBF9-B6B1-CB00-664624FC7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CD09B77-81AE-FE51-1A66-AB612E0FB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8B9DD-8056-4869-AFD4-AA4D7A61E0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9606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64B728-745D-ED81-2657-C98B56BE4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405F230-214A-F439-34BE-139753635D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E7E8352-EA22-A49E-0450-DC2C01C7B3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D627D68-DF8F-FD5D-4D39-FE7B1BD38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A3265-7178-482B-BBE7-FC2A016D8768}" type="datetimeFigureOut">
              <a:rPr lang="zh-TW" altLang="en-US" smtClean="0"/>
              <a:t>2025/12/3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28FCB4F-EACE-43AE-BC0B-CF7CBD21A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9E0B873-960D-880C-7455-CA6960703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8B9DD-8056-4869-AFD4-AA4D7A61E0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8480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DD1D58-B6E9-B0A8-25A2-C8A597B3D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10BEC284-671C-FCC2-2CEA-4C285DCCA9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29B68E5-6BD9-9420-A7EE-9E9843EA39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ACC3E13-A0E2-15E6-FB1A-7078ECE3A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A3265-7178-482B-BBE7-FC2A016D8768}" type="datetimeFigureOut">
              <a:rPr lang="zh-TW" altLang="en-US" smtClean="0"/>
              <a:t>2025/12/3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5BF210B-47E7-E34C-C6FF-118A0F028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1EBD562-D6AD-EA8C-649B-C71D8D0ED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8B9DD-8056-4869-AFD4-AA4D7A61E0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1765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9ACBC1-CF69-D4B1-80AC-2027D236E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B5AA455-63BC-0822-9EC8-F41ED845E5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5194A2E-B5E4-F56C-7799-F3B562873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A3265-7178-482B-BBE7-FC2A016D8768}" type="datetimeFigureOut">
              <a:rPr lang="zh-TW" altLang="en-US" smtClean="0"/>
              <a:t>2025/12/3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447CC22-01E3-D1C5-8DAB-DDA03516B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50D29EC-8DDD-877D-7AD6-4B84733CA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8B9DD-8056-4869-AFD4-AA4D7A61E0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5856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145CC5E-50E8-5371-6ED6-71894A0E93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1FCF3A3-81D4-47BC-3B69-B6A3D64690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55654B0-4BAB-EEDC-7076-043BBE79F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A3265-7178-482B-BBE7-FC2A016D8768}" type="datetimeFigureOut">
              <a:rPr lang="zh-TW" altLang="en-US" smtClean="0"/>
              <a:t>2025/12/3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7FF0870-BE1F-047C-416C-D1854D9EE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357F0C5-3CD6-75D9-752E-3237615C2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8B9DD-8056-4869-AFD4-AA4D7A61E0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2226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65F814BE-E315-3354-D62B-B7799B4AE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8112507-B49A-9CA9-7040-82B0696213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7E53225-3E9B-E9A7-E6AA-56B2F23F18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3A3265-7178-482B-BBE7-FC2A016D8768}" type="datetimeFigureOut">
              <a:rPr lang="zh-TW" altLang="en-US" smtClean="0"/>
              <a:t>2025/12/3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DB9EA01-DAC7-DFB2-9504-B8EAFA2F42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28E8DD0-14F2-5526-759D-BD2D681B53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B8B9DD-8056-4869-AFD4-AA4D7A61E0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4361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install-safe/nvidia/blob/main/ubuntu-24-ollama-openwebui-1124-history.txt" TargetMode="External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install-safe/nvidia/blob/main/ubuntu-24-ollama-openwebui-1124-history.txt" TargetMode="External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4092621A-0209-9028-5D9E-240198523D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27" y="239590"/>
            <a:ext cx="3771900" cy="291465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3D5A316E-D91F-ACB9-C8B0-C94F229E3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5930" y="4178569"/>
            <a:ext cx="2845276" cy="462357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D281DB01-B2E8-719F-0FAC-C5F359CDF4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2761" y="3522703"/>
            <a:ext cx="1347333" cy="1774090"/>
          </a:xfrm>
          <a:prstGeom prst="rect">
            <a:avLst/>
          </a:prstGeom>
        </p:spPr>
      </p:pic>
      <p:sp>
        <p:nvSpPr>
          <p:cNvPr id="8" name="箭號: 向右 7">
            <a:extLst>
              <a:ext uri="{FF2B5EF4-FFF2-40B4-BE49-F238E27FC236}">
                <a16:creationId xmlns:a16="http://schemas.microsoft.com/office/drawing/2014/main" id="{A97844BB-C843-0049-13C1-025FF3B3323A}"/>
              </a:ext>
            </a:extLst>
          </p:cNvPr>
          <p:cNvSpPr/>
          <p:nvPr/>
        </p:nvSpPr>
        <p:spPr>
          <a:xfrm>
            <a:off x="5710605" y="4178569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387F743-2614-0313-32D1-392D0374C136}"/>
              </a:ext>
            </a:extLst>
          </p:cNvPr>
          <p:cNvSpPr/>
          <p:nvPr/>
        </p:nvSpPr>
        <p:spPr>
          <a:xfrm>
            <a:off x="4236427" y="5296793"/>
            <a:ext cx="537999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會遇到什麼問題</a:t>
            </a:r>
            <a:r>
              <a:rPr lang="en-US" altLang="zh-TW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  <a:endParaRPr lang="zh-TW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0ACEFCCA-64D7-3B20-344E-A54524BCA0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9247" y="3540288"/>
            <a:ext cx="1505843" cy="420660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930CDFC8-7C8D-BBB8-AF2F-EAA44FC65F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5430" y="3674423"/>
            <a:ext cx="2286000" cy="35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466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方塊 6">
            <a:extLst>
              <a:ext uri="{FF2B5EF4-FFF2-40B4-BE49-F238E27FC236}">
                <a16:creationId xmlns:a16="http://schemas.microsoft.com/office/drawing/2014/main" id="{BB993751-ABAA-8606-6F80-7FD3CB650584}"/>
              </a:ext>
            </a:extLst>
          </p:cNvPr>
          <p:cNvSpPr txBox="1"/>
          <p:nvPr/>
        </p:nvSpPr>
        <p:spPr>
          <a:xfrm>
            <a:off x="1343985" y="2659951"/>
            <a:ext cx="97602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+ </a:t>
            </a:r>
            <a:r>
              <a:rPr lang="en-US" altLang="zh-TW" sz="28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Ollama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+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OpenWebUI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開源模型容器部署</a:t>
            </a:r>
            <a:endParaRPr lang="en-US" altLang="zh-TW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4C346A0-DF41-D24F-38F5-5F60AC4EE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286" y="1063513"/>
            <a:ext cx="2845276" cy="462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96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68F86E6B-6D87-F601-8830-C26859FD8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4557" y="5908293"/>
            <a:ext cx="3143250" cy="25859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B9A14222-E9E4-7173-AC91-1370A6734B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6687" y="2857497"/>
            <a:ext cx="1149148" cy="647536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DEE35B1A-F641-7D23-3460-0298902A87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5242" y="2236943"/>
            <a:ext cx="1345643" cy="1776248"/>
          </a:xfrm>
          <a:prstGeom prst="rect">
            <a:avLst/>
          </a:prstGeom>
        </p:spPr>
      </p:pic>
      <p:sp>
        <p:nvSpPr>
          <p:cNvPr id="10" name="箭號: 向下 9">
            <a:extLst>
              <a:ext uri="{FF2B5EF4-FFF2-40B4-BE49-F238E27FC236}">
                <a16:creationId xmlns:a16="http://schemas.microsoft.com/office/drawing/2014/main" id="{537C4222-5EEF-DC02-5C62-5875C7F76310}"/>
              </a:ext>
            </a:extLst>
          </p:cNvPr>
          <p:cNvSpPr/>
          <p:nvPr/>
        </p:nvSpPr>
        <p:spPr>
          <a:xfrm>
            <a:off x="8184450" y="3642775"/>
            <a:ext cx="739741" cy="788276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3D875053-09F3-DB4C-0E12-4E413C261D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1958" y="2275960"/>
            <a:ext cx="1504950" cy="419100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ED76F00A-65E4-C57E-0D7A-8537C342EE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2795" y="1278204"/>
            <a:ext cx="2344615" cy="808892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43F78B8F-E45C-CBFF-1591-B9D903C04C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38533" y="851024"/>
            <a:ext cx="2668361" cy="1268565"/>
          </a:xfrm>
          <a:prstGeom prst="rect">
            <a:avLst/>
          </a:prstGeom>
        </p:spPr>
      </p:pic>
      <p:sp>
        <p:nvSpPr>
          <p:cNvPr id="16" name="文字方塊 15">
            <a:extLst>
              <a:ext uri="{FF2B5EF4-FFF2-40B4-BE49-F238E27FC236}">
                <a16:creationId xmlns:a16="http://schemas.microsoft.com/office/drawing/2014/main" id="{55457336-7BE0-648B-1143-CD44624A6407}"/>
              </a:ext>
            </a:extLst>
          </p:cNvPr>
          <p:cNvSpPr txBox="1"/>
          <p:nvPr/>
        </p:nvSpPr>
        <p:spPr>
          <a:xfrm>
            <a:off x="501160" y="2088172"/>
            <a:ext cx="532323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安裝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Ubuntu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作業系統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2.Nvidia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驅動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3.Docker / Docker Compose</a:t>
            </a:r>
          </a:p>
          <a:p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4.Docker </a:t>
            </a:r>
            <a:r>
              <a:rPr lang="en-US" altLang="zh-TW" sz="2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Ollama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+ </a:t>
            </a:r>
            <a:r>
              <a:rPr lang="en-US" altLang="zh-TW" sz="2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OpenWeb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UI</a:t>
            </a:r>
          </a:p>
          <a:p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5. </a:t>
            </a:r>
            <a:r>
              <a:rPr lang="en-US" altLang="zh-TW" sz="2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OpenWeb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UI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下載模型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BEDB990D-C909-7C31-0A03-367E4945ED3E}"/>
              </a:ext>
            </a:extLst>
          </p:cNvPr>
          <p:cNvSpPr txBox="1"/>
          <p:nvPr/>
        </p:nvSpPr>
        <p:spPr>
          <a:xfrm>
            <a:off x="169138" y="6513047"/>
            <a:ext cx="104450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8"/>
              </a:rPr>
              <a:t>2025/11 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8"/>
              </a:rPr>
              <a:t>指令記錄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8"/>
              </a:rPr>
              <a:t>https://github.com/install-safe/nvidia/blob/main/ubuntu-24-ollama-openwebui-1124-history.txt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0E233D44-1E55-EC1D-614C-55456836BF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0007" y="5504469"/>
            <a:ext cx="1149148" cy="647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92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C3AD0-2459-C28F-8CDD-7DAF9A06A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9CD52643-B365-77C5-F2C2-FE3D0D4694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4557" y="5908293"/>
            <a:ext cx="3143250" cy="25859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C4D5CC79-E5F2-F32D-E6B0-A2BDB9AB73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9994" y="2781464"/>
            <a:ext cx="1149148" cy="647536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5EB7A8B7-E2E3-5667-79F2-0DCBE0C85D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8944" y="969688"/>
            <a:ext cx="1345643" cy="1776248"/>
          </a:xfrm>
          <a:prstGeom prst="rect">
            <a:avLst/>
          </a:prstGeom>
        </p:spPr>
      </p:pic>
      <p:sp>
        <p:nvSpPr>
          <p:cNvPr id="10" name="箭號: 向下 9">
            <a:extLst>
              <a:ext uri="{FF2B5EF4-FFF2-40B4-BE49-F238E27FC236}">
                <a16:creationId xmlns:a16="http://schemas.microsoft.com/office/drawing/2014/main" id="{2BC3052D-1E3C-6AD6-3AEC-F2EC654FB969}"/>
              </a:ext>
            </a:extLst>
          </p:cNvPr>
          <p:cNvSpPr/>
          <p:nvPr/>
        </p:nvSpPr>
        <p:spPr>
          <a:xfrm>
            <a:off x="8184450" y="3642775"/>
            <a:ext cx="739741" cy="788276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217F69D5-5301-AEC5-F7EA-FEBFF5BDB2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9290" y="1215834"/>
            <a:ext cx="1504950" cy="419100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8B4B5DD2-34EC-1004-14D0-4A56EABDFA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9510" y="1665205"/>
            <a:ext cx="1437215" cy="495839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A45919DE-3AAB-6B83-2818-ECA7A12357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3038" y="193288"/>
            <a:ext cx="2114285" cy="1005152"/>
          </a:xfrm>
          <a:prstGeom prst="rect">
            <a:avLst/>
          </a:prstGeom>
        </p:spPr>
      </p:pic>
      <p:sp>
        <p:nvSpPr>
          <p:cNvPr id="16" name="文字方塊 15">
            <a:extLst>
              <a:ext uri="{FF2B5EF4-FFF2-40B4-BE49-F238E27FC236}">
                <a16:creationId xmlns:a16="http://schemas.microsoft.com/office/drawing/2014/main" id="{381BFBDA-46DB-D485-CF5D-CEA7CD9D3012}"/>
              </a:ext>
            </a:extLst>
          </p:cNvPr>
          <p:cNvSpPr txBox="1"/>
          <p:nvPr/>
        </p:nvSpPr>
        <p:spPr>
          <a:xfrm>
            <a:off x="501160" y="2088172"/>
            <a:ext cx="61370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zh-TW" altLang="en-US" sz="24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安裝</a:t>
            </a:r>
            <a:r>
              <a:rPr lang="en-US" altLang="zh-TW" sz="24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Proxmox</a:t>
            </a:r>
            <a:r>
              <a:rPr lang="en-US" altLang="zh-TW" sz="24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  <a:p>
            <a:r>
              <a:rPr lang="en-US" altLang="zh-TW" sz="24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2.Nvidia </a:t>
            </a:r>
            <a:r>
              <a:rPr lang="zh-TW" altLang="en-US" sz="24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驅動</a:t>
            </a:r>
            <a:endParaRPr lang="en-US" altLang="zh-TW" sz="2400" b="1" dirty="0">
              <a:solidFill>
                <a:schemeClr val="accent1">
                  <a:lumMod val="40000"/>
                  <a:lumOff val="6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24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3.CT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Ollama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+ </a:t>
            </a:r>
            <a:r>
              <a:rPr lang="en-US" altLang="zh-TW" sz="2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OpenWeb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UI</a:t>
            </a:r>
          </a:p>
          <a:p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4. VM Ubuntu + Docker </a:t>
            </a:r>
            <a:r>
              <a:rPr lang="en-US" altLang="zh-TW" sz="2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OpenWeb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UI</a:t>
            </a: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B9CFE476-F9EF-51C0-1720-741636252108}"/>
              </a:ext>
            </a:extLst>
          </p:cNvPr>
          <p:cNvSpPr txBox="1"/>
          <p:nvPr/>
        </p:nvSpPr>
        <p:spPr>
          <a:xfrm>
            <a:off x="169138" y="6513047"/>
            <a:ext cx="104450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8"/>
              </a:rPr>
              <a:t>2025/11 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8"/>
              </a:rPr>
              <a:t>指令記錄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8"/>
              </a:rPr>
              <a:t>https://github.com/install-safe/nvidia/blob/main/ubuntu-24-ollama-openwebui-1124-history.txt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731EA99F-D70F-9F65-2549-0F3419913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0007" y="5504469"/>
            <a:ext cx="1149148" cy="647536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36CB4506-6F03-6629-FFE7-F2345448FAF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3557" y="3072762"/>
            <a:ext cx="1952625" cy="314325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5D7D5E25-F2BF-5BF0-03F7-8607AC418914}"/>
              </a:ext>
            </a:extLst>
          </p:cNvPr>
          <p:cNvSpPr txBox="1"/>
          <p:nvPr/>
        </p:nvSpPr>
        <p:spPr>
          <a:xfrm>
            <a:off x="8184450" y="2264350"/>
            <a:ext cx="1494692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CT</a:t>
            </a:r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027695C6-10D6-757B-9155-6E41A133EA9F}"/>
              </a:ext>
            </a:extLst>
          </p:cNvPr>
          <p:cNvSpPr txBox="1"/>
          <p:nvPr/>
        </p:nvSpPr>
        <p:spPr>
          <a:xfrm>
            <a:off x="6524053" y="2257497"/>
            <a:ext cx="1494692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VM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72797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00604-7195-31AB-7946-EAA8909B9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58180493-53BB-F459-9E58-FEE21B363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3465" y="5413773"/>
            <a:ext cx="3143250" cy="25859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49CC13CD-CC4E-B7DD-A008-FFCF463FDF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8902" y="3353320"/>
            <a:ext cx="1149148" cy="647536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72FB78C5-08E4-843C-23EC-B8A4D9606E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7852" y="1541544"/>
            <a:ext cx="1345643" cy="1776248"/>
          </a:xfrm>
          <a:prstGeom prst="rect">
            <a:avLst/>
          </a:prstGeom>
        </p:spPr>
      </p:pic>
      <p:sp>
        <p:nvSpPr>
          <p:cNvPr id="10" name="箭號: 向下 9">
            <a:extLst>
              <a:ext uri="{FF2B5EF4-FFF2-40B4-BE49-F238E27FC236}">
                <a16:creationId xmlns:a16="http://schemas.microsoft.com/office/drawing/2014/main" id="{A3CD86DD-B620-D0FF-1932-ADC38F459E48}"/>
              </a:ext>
            </a:extLst>
          </p:cNvPr>
          <p:cNvSpPr/>
          <p:nvPr/>
        </p:nvSpPr>
        <p:spPr>
          <a:xfrm>
            <a:off x="10023358" y="4214631"/>
            <a:ext cx="739741" cy="788276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CA3C6F09-7BEB-4ACE-205B-CC3F463182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8198" y="1787690"/>
            <a:ext cx="1504950" cy="419100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593D6539-8304-7ECC-53A5-9E6EC42BF3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38418" y="2237061"/>
            <a:ext cx="1437215" cy="495839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3C127EC3-DEE4-F39A-0C6E-E76663E737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1946" y="765144"/>
            <a:ext cx="2114285" cy="1005152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A7B5ABF6-3AC8-CB46-1BF0-BEC8018DB0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8915" y="5009949"/>
            <a:ext cx="1149148" cy="647536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C1C27715-23BE-CB6B-355B-0BCC69AB474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92465" y="3644618"/>
            <a:ext cx="1952625" cy="314325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1A6A6E70-B50C-B3EE-8F7F-06FC5A8F2D8C}"/>
              </a:ext>
            </a:extLst>
          </p:cNvPr>
          <p:cNvSpPr txBox="1"/>
          <p:nvPr/>
        </p:nvSpPr>
        <p:spPr>
          <a:xfrm>
            <a:off x="10023358" y="2836206"/>
            <a:ext cx="1494692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CT</a:t>
            </a:r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E8EE1906-A975-40D9-6251-79EE51A32E67}"/>
              </a:ext>
            </a:extLst>
          </p:cNvPr>
          <p:cNvSpPr txBox="1"/>
          <p:nvPr/>
        </p:nvSpPr>
        <p:spPr>
          <a:xfrm>
            <a:off x="8362961" y="2829353"/>
            <a:ext cx="1494692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VM</a:t>
            </a:r>
            <a:endParaRPr lang="zh-TW" altLang="en-US" dirty="0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5A404194-4673-C694-DCD1-19AABBF405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537" y="5428651"/>
            <a:ext cx="3143250" cy="25859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B17E9B96-70CA-5FCC-5FF0-B150B63EB1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1639" y="2876769"/>
            <a:ext cx="1149148" cy="647536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EF6F30D2-4890-7634-45C1-442E348C3A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0194" y="2256215"/>
            <a:ext cx="1345643" cy="1776248"/>
          </a:xfrm>
          <a:prstGeom prst="rect">
            <a:avLst/>
          </a:prstGeom>
        </p:spPr>
      </p:pic>
      <p:sp>
        <p:nvSpPr>
          <p:cNvPr id="7" name="箭號: 向下 6">
            <a:extLst>
              <a:ext uri="{FF2B5EF4-FFF2-40B4-BE49-F238E27FC236}">
                <a16:creationId xmlns:a16="http://schemas.microsoft.com/office/drawing/2014/main" id="{7BF864E1-6684-ECA9-7018-F1B74E5FE23E}"/>
              </a:ext>
            </a:extLst>
          </p:cNvPr>
          <p:cNvSpPr/>
          <p:nvPr/>
        </p:nvSpPr>
        <p:spPr>
          <a:xfrm>
            <a:off x="2339402" y="3662047"/>
            <a:ext cx="739741" cy="788276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138804D3-7FAE-3F53-6AC3-6367E2A72C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6910" y="2295232"/>
            <a:ext cx="1504950" cy="419100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86572DB9-B438-5D37-1E89-4B999B9920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7747" y="1297476"/>
            <a:ext cx="2344615" cy="808892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293F5512-6355-01DB-A636-CD1D854155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93487" y="870296"/>
            <a:ext cx="2344616" cy="1114653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835B0007-2E24-3DA0-3129-AB8658D1C4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2987" y="5024827"/>
            <a:ext cx="1149148" cy="647536"/>
          </a:xfrm>
          <a:prstGeom prst="rect">
            <a:avLst/>
          </a:prstGeom>
        </p:spPr>
      </p:pic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BCDAE940-602E-5179-FDA9-068EEC8F3A5B}"/>
              </a:ext>
            </a:extLst>
          </p:cNvPr>
          <p:cNvCxnSpPr/>
          <p:nvPr/>
        </p:nvCxnSpPr>
        <p:spPr>
          <a:xfrm>
            <a:off x="5741377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4195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6BB38098-3F63-32A7-2AFA-E85E84763B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8562270"/>
              </p:ext>
            </p:extLst>
          </p:nvPr>
        </p:nvGraphicFramePr>
        <p:xfrm>
          <a:off x="534131" y="999146"/>
          <a:ext cx="11317899" cy="4670310"/>
        </p:xfrm>
        <a:graphic>
          <a:graphicData uri="http://schemas.openxmlformats.org/drawingml/2006/table">
            <a:tbl>
              <a:tblPr/>
              <a:tblGrid>
                <a:gridCol w="1550614">
                  <a:extLst>
                    <a:ext uri="{9D8B030D-6E8A-4147-A177-3AD203B41FA5}">
                      <a16:colId xmlns:a16="http://schemas.microsoft.com/office/drawing/2014/main" val="734621367"/>
                    </a:ext>
                  </a:extLst>
                </a:gridCol>
                <a:gridCol w="4690097">
                  <a:extLst>
                    <a:ext uri="{9D8B030D-6E8A-4147-A177-3AD203B41FA5}">
                      <a16:colId xmlns:a16="http://schemas.microsoft.com/office/drawing/2014/main" val="1325781737"/>
                    </a:ext>
                  </a:extLst>
                </a:gridCol>
                <a:gridCol w="5077188">
                  <a:extLst>
                    <a:ext uri="{9D8B030D-6E8A-4147-A177-3AD203B41FA5}">
                      <a16:colId xmlns:a16="http://schemas.microsoft.com/office/drawing/2014/main" val="1042025543"/>
                    </a:ext>
                  </a:extLst>
                </a:gridCol>
              </a:tblGrid>
              <a:tr h="271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特性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Ubuntu Docker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Proxmox CT (LXC)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7977619"/>
                  </a:ext>
                </a:extLst>
              </a:tr>
              <a:tr h="4759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技術類型</a:t>
                      </a:r>
                      <a:endParaRPr lang="zh-TW" altLang="en-US" sz="16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應用容器化 </a:t>
                      </a:r>
                      <a:r>
                        <a:rPr lang="en-US" alt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Application Containerization)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系統容器化 </a:t>
                      </a:r>
                      <a:r>
                        <a:rPr lang="en-US" alt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System Containerization) / </a:t>
                      </a:r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輕量級虛擬化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97045"/>
                  </a:ext>
                </a:extLst>
              </a:tr>
              <a:tr h="4759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隔離層級</a:t>
                      </a:r>
                      <a:endParaRPr lang="zh-TW" altLang="en-US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低</a:t>
                      </a:r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：共用主機核心 </a:t>
                      </a:r>
                      <a:r>
                        <a:rPr lang="en-US" alt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Kernel)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高</a:t>
                      </a:r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：具備自己的獨立 </a:t>
                      </a:r>
                      <a:r>
                        <a:rPr 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PID 1、</a:t>
                      </a:r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完整的 </a:t>
                      </a:r>
                      <a:r>
                        <a:rPr lang="en-US" alt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sbin/init </a:t>
                      </a:r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系統和服務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9367874"/>
                  </a:ext>
                </a:extLst>
              </a:tr>
              <a:tr h="4759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核心要求</a:t>
                      </a:r>
                      <a:endParaRPr lang="zh-TW" altLang="en-US" sz="16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共用</a:t>
                      </a:r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主機的核心 </a:t>
                      </a:r>
                      <a:r>
                        <a:rPr lang="en-US" alt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Host Kernel)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使用主機核心，但模擬一個獨立的 </a:t>
                      </a:r>
                      <a:r>
                        <a:rPr lang="zh-TW" altLang="en-US" sz="16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作業系統環境</a:t>
                      </a:r>
                      <a:endParaRPr lang="zh-TW" altLang="en-US" sz="16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1195616"/>
                  </a:ext>
                </a:extLst>
              </a:tr>
              <a:tr h="4759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資源消耗</a:t>
                      </a:r>
                      <a:endParaRPr lang="zh-TW" altLang="en-US" sz="16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極低</a:t>
                      </a:r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：僅運行應用程序及其依賴項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低</a:t>
                      </a:r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：比虛擬機 </a:t>
                      </a:r>
                      <a:r>
                        <a:rPr lang="en-US" alt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VM) </a:t>
                      </a:r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低，但比 </a:t>
                      </a:r>
                      <a:r>
                        <a:rPr 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Docker </a:t>
                      </a:r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高 </a:t>
                      </a:r>
                      <a:r>
                        <a:rPr lang="en-US" alt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需運行完整 </a:t>
                      </a:r>
                      <a:r>
                        <a:rPr 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OS </a:t>
                      </a:r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服務</a:t>
                      </a:r>
                      <a:r>
                        <a:rPr lang="en-US" alt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2350989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啟動速度</a:t>
                      </a:r>
                      <a:endParaRPr lang="zh-TW" altLang="en-US" sz="16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極快</a:t>
                      </a:r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：毫秒級 </a:t>
                      </a:r>
                      <a:r>
                        <a:rPr lang="en-US" alt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僅啟動應用程序</a:t>
                      </a:r>
                      <a:r>
                        <a:rPr lang="en-US" alt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快</a:t>
                      </a:r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：秒級 </a:t>
                      </a:r>
                      <a:r>
                        <a:rPr lang="en-US" alt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啟動一個完整的 </a:t>
                      </a:r>
                      <a:r>
                        <a:rPr lang="en-US" alt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OS)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9526209"/>
                  </a:ext>
                </a:extLst>
              </a:tr>
              <a:tr h="4759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大小</a:t>
                      </a:r>
                      <a:r>
                        <a:rPr lang="en-US" altLang="zh-TW" sz="16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lang="zh-TW" altLang="en-US" sz="16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佔用空間</a:t>
                      </a:r>
                      <a:endParaRPr lang="zh-TW" altLang="en-US" sz="16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極小</a:t>
                      </a:r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：通常僅數十 </a:t>
                      </a:r>
                      <a:r>
                        <a:rPr lang="en-US" alt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MB (</a:t>
                      </a:r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僅含應用所需</a:t>
                      </a:r>
                      <a:r>
                        <a:rPr lang="en-US" alt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較大</a:t>
                      </a:r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：數百 </a:t>
                      </a:r>
                      <a:r>
                        <a:rPr 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MB </a:t>
                      </a:r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至 </a:t>
                      </a:r>
                      <a:r>
                        <a:rPr 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GB (</a:t>
                      </a:r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含完整 </a:t>
                      </a:r>
                      <a:r>
                        <a:rPr 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OS </a:t>
                      </a:r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文件系統</a:t>
                      </a:r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5160555"/>
                  </a:ext>
                </a:extLst>
              </a:tr>
              <a:tr h="4759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典型用途</a:t>
                      </a:r>
                      <a:endParaRPr lang="zh-TW" altLang="en-US" sz="16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微服務</a:t>
                      </a:r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、無狀態應用、開發</a:t>
                      </a:r>
                      <a:r>
                        <a:rPr lang="en-US" alt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測試環境、</a:t>
                      </a:r>
                      <a:r>
                        <a:rPr lang="en-US" alt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CI/CD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運行完整 </a:t>
                      </a:r>
                      <a:r>
                        <a:rPr lang="en-US" altLang="zh-TW" sz="16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OS</a:t>
                      </a:r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、郵件伺服器、數據庫、提供接近 </a:t>
                      </a:r>
                      <a:r>
                        <a:rPr lang="en-US" alt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VM </a:t>
                      </a:r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的體驗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580875"/>
                  </a:ext>
                </a:extLst>
              </a:tr>
              <a:tr h="4759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特權存取</a:t>
                      </a:r>
                      <a:endParaRPr lang="zh-TW" altLang="en-US" sz="16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預設限制，但可以給予特權 </a:t>
                      </a:r>
                      <a:r>
                        <a:rPr lang="en-US" alt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危險</a:t>
                      </a:r>
                      <a:r>
                        <a:rPr lang="en-US" alt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預設隔離較好，但仍需注意 </a:t>
                      </a:r>
                      <a:r>
                        <a:rPr lang="en-US" sz="16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Unprivileged CT</a:t>
                      </a:r>
                      <a:r>
                        <a:rPr 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的配置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5033541"/>
                  </a:ext>
                </a:extLst>
              </a:tr>
              <a:tr h="4759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儲存方式</a:t>
                      </a:r>
                      <a:endParaRPr lang="zh-TW" altLang="en-US" sz="16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透過分層文件系統 </a:t>
                      </a:r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Layered Filesystem)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傳統文件系統 </a:t>
                      </a:r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如 </a:t>
                      </a:r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LVM, ZFS, </a:t>
                      </a:r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檔案系統目錄</a:t>
                      </a:r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6370651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3B60ECDA-034C-2FE6-6E6B-C587FAD51FBC}"/>
              </a:ext>
            </a:extLst>
          </p:cNvPr>
          <p:cNvSpPr txBox="1"/>
          <p:nvPr/>
        </p:nvSpPr>
        <p:spPr>
          <a:xfrm>
            <a:off x="534133" y="311703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💻 </a:t>
            </a:r>
            <a:r>
              <a:rPr lang="en-US" altLang="zh-TW" dirty="0"/>
              <a:t>Ubuntu Docker </a:t>
            </a:r>
            <a:r>
              <a:rPr lang="zh-TW" altLang="en-US" dirty="0"/>
              <a:t>與 </a:t>
            </a:r>
            <a:r>
              <a:rPr lang="en-US" altLang="zh-TW" dirty="0" err="1"/>
              <a:t>Proxmox</a:t>
            </a:r>
            <a:r>
              <a:rPr lang="en-US" altLang="zh-TW" dirty="0"/>
              <a:t> CT </a:t>
            </a:r>
            <a:r>
              <a:rPr lang="zh-TW" altLang="en-US" dirty="0"/>
              <a:t>差異比較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9245F43-B435-A9E8-FFD2-96FD39A05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7176" y="531538"/>
            <a:ext cx="1956986" cy="310923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DF8D9E19-2317-CB49-0906-96C1BC2D4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956" y="5197294"/>
            <a:ext cx="1274626" cy="1678353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8C9C0D9B-F88D-964A-FD2D-CBB5F2D426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8932" y="5615811"/>
            <a:ext cx="1505843" cy="420660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A881447E-51D1-FC4A-8346-F2B969ED0621}"/>
              </a:ext>
            </a:extLst>
          </p:cNvPr>
          <p:cNvSpPr txBox="1"/>
          <p:nvPr/>
        </p:nvSpPr>
        <p:spPr>
          <a:xfrm>
            <a:off x="5593976" y="6275294"/>
            <a:ext cx="3600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由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Gemini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整理提供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請驗證正確性</a:t>
            </a:r>
          </a:p>
        </p:txBody>
      </p:sp>
    </p:spTree>
    <p:extLst>
      <p:ext uri="{BB962C8B-B14F-4D97-AF65-F5344CB8AC3E}">
        <p14:creationId xmlns:p14="http://schemas.microsoft.com/office/powerpoint/2010/main" val="3808506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D9B43705-9B91-D524-5798-D81F2F49F7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7331946"/>
              </p:ext>
            </p:extLst>
          </p:nvPr>
        </p:nvGraphicFramePr>
        <p:xfrm>
          <a:off x="633045" y="1705708"/>
          <a:ext cx="10937632" cy="4655894"/>
        </p:xfrm>
        <a:graphic>
          <a:graphicData uri="http://schemas.openxmlformats.org/drawingml/2006/table">
            <a:tbl>
              <a:tblPr/>
              <a:tblGrid>
                <a:gridCol w="1639823">
                  <a:extLst>
                    <a:ext uri="{9D8B030D-6E8A-4147-A177-3AD203B41FA5}">
                      <a16:colId xmlns:a16="http://schemas.microsoft.com/office/drawing/2014/main" val="2200849309"/>
                    </a:ext>
                  </a:extLst>
                </a:gridCol>
                <a:gridCol w="3990120">
                  <a:extLst>
                    <a:ext uri="{9D8B030D-6E8A-4147-A177-3AD203B41FA5}">
                      <a16:colId xmlns:a16="http://schemas.microsoft.com/office/drawing/2014/main" val="3235717489"/>
                    </a:ext>
                  </a:extLst>
                </a:gridCol>
                <a:gridCol w="5307689">
                  <a:extLst>
                    <a:ext uri="{9D8B030D-6E8A-4147-A177-3AD203B41FA5}">
                      <a16:colId xmlns:a16="http://schemas.microsoft.com/office/drawing/2014/main" val="2785492771"/>
                    </a:ext>
                  </a:extLst>
                </a:gridCol>
              </a:tblGrid>
              <a:tr h="355766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zh-TW" alt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特性</a:t>
                      </a:r>
                    </a:p>
                  </a:txBody>
                  <a:tcPr marL="5421" marR="5421" marT="3614" marB="361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Proxmox CT (LXC) → Ollama</a:t>
                      </a:r>
                    </a:p>
                  </a:txBody>
                  <a:tcPr marL="5421" marR="5421" marT="3614" marB="361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Proxmox VM (KVM) → Docker → Ollama</a:t>
                      </a:r>
                    </a:p>
                  </a:txBody>
                  <a:tcPr marL="5421" marR="5421" marT="3614" marB="361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942216"/>
                  </a:ext>
                </a:extLst>
              </a:tr>
              <a:tr h="355766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zh-TW" alt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底層技術</a:t>
                      </a:r>
                    </a:p>
                  </a:txBody>
                  <a:tcPr marL="5421" marR="5421" marT="3614" marB="361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zh-TW" alt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系統容器化 </a:t>
                      </a:r>
                      <a:r>
                        <a:rPr lang="en-US" altLang="zh-TW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共享主機核心</a:t>
                      </a:r>
                      <a:r>
                        <a:rPr lang="en-US" altLang="zh-TW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</a:p>
                  </a:txBody>
                  <a:tcPr marL="5421" marR="5421" marT="3614" marB="361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zh-TW" alt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硬體虛擬化 </a:t>
                      </a:r>
                      <a:r>
                        <a:rPr lang="en-US" altLang="zh-TW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獨立核心與硬體模擬</a:t>
                      </a:r>
                      <a:r>
                        <a:rPr lang="en-US" altLang="zh-TW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</a:p>
                  </a:txBody>
                  <a:tcPr marL="5421" marR="5421" marT="3614" marB="361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4079433"/>
                  </a:ext>
                </a:extLst>
              </a:tr>
              <a:tr h="355766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GPU </a:t>
                      </a:r>
                      <a:r>
                        <a:rPr lang="zh-TW" alt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存取機制</a:t>
                      </a:r>
                    </a:p>
                  </a:txBody>
                  <a:tcPr marL="5421" marR="5421" marT="3614" marB="361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Device Passthrough (</a:t>
                      </a:r>
                      <a:r>
                        <a:rPr lang="zh-TW" alt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裝置節點傳遞</a:t>
                      </a:r>
                      <a:r>
                        <a:rPr lang="en-US" altLang="zh-TW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</a:p>
                  </a:txBody>
                  <a:tcPr marL="5421" marR="5421" marT="3614" marB="361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PCIe Passthrough (</a:t>
                      </a:r>
                      <a:r>
                        <a:rPr lang="zh-TW" alt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完整硬體傳遞</a:t>
                      </a:r>
                      <a:r>
                        <a:rPr lang="en-US" altLang="zh-TW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 </a:t>
                      </a:r>
                      <a:r>
                        <a:rPr lang="zh-TW" alt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或 </a:t>
                      </a:r>
                      <a:r>
                        <a:rPr 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vGPU/mDev (</a:t>
                      </a:r>
                      <a:r>
                        <a:rPr lang="zh-TW" alt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分割</a:t>
                      </a:r>
                      <a:r>
                        <a:rPr lang="en-US" altLang="zh-TW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</a:p>
                  </a:txBody>
                  <a:tcPr marL="5421" marR="5421" marT="3614" marB="361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1407"/>
                  </a:ext>
                </a:extLst>
              </a:tr>
              <a:tr h="912617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zh-TW" alt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配置複雜度</a:t>
                      </a:r>
                    </a:p>
                  </a:txBody>
                  <a:tcPr marL="5421" marR="5421" marT="3614" marB="361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zh-TW" alt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較低 </a:t>
                      </a:r>
                      <a:r>
                        <a:rPr lang="en-US" altLang="zh-TW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設備節點</a:t>
                      </a:r>
                      <a:r>
                        <a:rPr lang="en-US" altLang="zh-TW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r>
                        <a:rPr lang="zh-TW" alt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：只需在 </a:t>
                      </a:r>
                      <a:r>
                        <a:rPr lang="en-US" altLang="zh-TW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Proxmox CT </a:t>
                      </a:r>
                      <a:r>
                        <a:rPr lang="zh-TW" alt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配置中傳遞 </a:t>
                      </a:r>
                      <a:r>
                        <a:rPr lang="en-US" altLang="zh-TW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/dev/dri </a:t>
                      </a:r>
                      <a:r>
                        <a:rPr lang="zh-TW" alt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或 </a:t>
                      </a:r>
                      <a:r>
                        <a:rPr lang="en-US" altLang="zh-TW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/dev/nvidia* </a:t>
                      </a:r>
                      <a:r>
                        <a:rPr lang="zh-TW" alt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節點。</a:t>
                      </a:r>
                    </a:p>
                  </a:txBody>
                  <a:tcPr marL="5421" marR="5421" marT="3614" marB="361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zh-TW" altLang="en-US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高 </a:t>
                      </a:r>
                      <a:r>
                        <a:rPr lang="en-US" altLang="zh-TW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en-US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PCIe)：</a:t>
                      </a:r>
                      <a:r>
                        <a:rPr lang="zh-TW" altLang="en-US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需要啟用 </a:t>
                      </a:r>
                      <a:r>
                        <a:rPr lang="en-US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IOMMU、</a:t>
                      </a:r>
                      <a:r>
                        <a:rPr lang="zh-TW" altLang="en-US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修改 </a:t>
                      </a:r>
                      <a:r>
                        <a:rPr lang="en-US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Host Kernel </a:t>
                      </a:r>
                      <a:r>
                        <a:rPr lang="zh-TW" altLang="en-US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參數、解除綁定 </a:t>
                      </a:r>
                      <a:r>
                        <a:rPr lang="en-US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Host </a:t>
                      </a:r>
                      <a:r>
                        <a:rPr lang="zh-TW" altLang="en-US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驅動。</a:t>
                      </a:r>
                    </a:p>
                  </a:txBody>
                  <a:tcPr marL="5421" marR="5421" marT="3614" marB="361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094993"/>
                  </a:ext>
                </a:extLst>
              </a:tr>
              <a:tr h="355766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zh-TW" alt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驅動程式位置</a:t>
                      </a:r>
                    </a:p>
                  </a:txBody>
                  <a:tcPr marL="5421" marR="5421" marT="3614" marB="361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zh-TW" altLang="en-US" sz="14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僅需在 </a:t>
                      </a:r>
                      <a:r>
                        <a:rPr lang="en-US" altLang="zh-TW" sz="14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Host </a:t>
                      </a:r>
                      <a:r>
                        <a:rPr lang="zh-TW" altLang="en-US" sz="14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主機上 安裝驅動程式。</a:t>
                      </a:r>
                    </a:p>
                  </a:txBody>
                  <a:tcPr marL="5421" marR="5421" marT="3614" marB="361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zh-TW" alt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必須在 </a:t>
                      </a:r>
                      <a:r>
                        <a:rPr lang="en-US" altLang="zh-TW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Guest VM </a:t>
                      </a:r>
                      <a:r>
                        <a:rPr lang="zh-TW" alt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內部 安裝 </a:t>
                      </a:r>
                      <a:r>
                        <a:rPr lang="en-US" altLang="zh-TW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GPU </a:t>
                      </a:r>
                      <a:r>
                        <a:rPr lang="zh-TW" alt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驅動程式。</a:t>
                      </a:r>
                    </a:p>
                  </a:txBody>
                  <a:tcPr marL="5421" marR="5421" marT="3614" marB="361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71320"/>
                  </a:ext>
                </a:extLst>
              </a:tr>
              <a:tr h="425372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zh-TW" alt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效能損耗</a:t>
                      </a:r>
                    </a:p>
                  </a:txBody>
                  <a:tcPr marL="5421" marR="5421" marT="3614" marB="361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zh-TW" alt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極低：幾乎是原生 </a:t>
                      </a:r>
                      <a:r>
                        <a:rPr lang="en-US" altLang="zh-TW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Near-Native) </a:t>
                      </a:r>
                      <a:r>
                        <a:rPr lang="zh-TW" alt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效能。</a:t>
                      </a:r>
                    </a:p>
                  </a:txBody>
                  <a:tcPr marL="5421" marR="5421" marT="3614" marB="361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zh-TW" alt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極低：</a:t>
                      </a:r>
                      <a:r>
                        <a:rPr 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PCIe Passthrough </a:t>
                      </a:r>
                      <a:r>
                        <a:rPr lang="zh-TW" alt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損耗極微小。</a:t>
                      </a:r>
                    </a:p>
                  </a:txBody>
                  <a:tcPr marL="5421" marR="5421" marT="3614" marB="361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08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7759194"/>
                  </a:ext>
                </a:extLst>
              </a:tr>
              <a:tr h="843011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GPU </a:t>
                      </a:r>
                      <a:r>
                        <a:rPr lang="zh-TW" alt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共享性</a:t>
                      </a:r>
                    </a:p>
                  </a:txBody>
                  <a:tcPr marL="5421" marR="5421" marT="3614" marB="361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zh-TW" alt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差：通常只能將整個 </a:t>
                      </a:r>
                      <a:r>
                        <a:rPr lang="en-US" altLang="zh-TW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GPU </a:t>
                      </a:r>
                      <a:r>
                        <a:rPr lang="zh-TW" alt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裝置節點傳遞給單個 </a:t>
                      </a:r>
                      <a:r>
                        <a:rPr lang="en-US" altLang="zh-TW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CT</a:t>
                      </a:r>
                      <a:r>
                        <a:rPr lang="zh-TW" alt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，難以在多個 </a:t>
                      </a:r>
                      <a:r>
                        <a:rPr lang="en-US" altLang="zh-TW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CT </a:t>
                      </a:r>
                      <a:r>
                        <a:rPr lang="zh-TW" alt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間分割。</a:t>
                      </a:r>
                    </a:p>
                  </a:txBody>
                  <a:tcPr marL="5421" marR="5421" marT="3614" marB="361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08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zh-TW" alt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高階</a:t>
                      </a:r>
                      <a:r>
                        <a:rPr lang="en-US" altLang="zh-TW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lang="zh-TW" alt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專業卡可共享：透過 </a:t>
                      </a:r>
                      <a:r>
                        <a:rPr lang="en-US" altLang="zh-TW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NVIDIA vGPU </a:t>
                      </a:r>
                      <a:r>
                        <a:rPr lang="zh-TW" alt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或 </a:t>
                      </a:r>
                      <a:r>
                        <a:rPr lang="en-US" altLang="zh-TW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Intel GVT-g </a:t>
                      </a:r>
                      <a:r>
                        <a:rPr lang="zh-TW" alt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實現。 消費級卡不可共享：一旦傳遞給 </a:t>
                      </a:r>
                      <a:r>
                        <a:rPr lang="en-US" altLang="zh-TW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VM</a:t>
                      </a:r>
                      <a:r>
                        <a:rPr lang="zh-TW" alt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，</a:t>
                      </a:r>
                      <a:r>
                        <a:rPr lang="en-US" altLang="zh-TW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Host </a:t>
                      </a:r>
                      <a:r>
                        <a:rPr lang="zh-TW" alt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和其他 </a:t>
                      </a:r>
                      <a:r>
                        <a:rPr lang="en-US" altLang="zh-TW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VM/CT </a:t>
                      </a:r>
                      <a:r>
                        <a:rPr lang="zh-TW" alt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就無法使用。</a:t>
                      </a:r>
                    </a:p>
                  </a:txBody>
                  <a:tcPr marL="0" marR="0" marT="3614" marB="3614" anchor="b">
                    <a:lnL w="7620" cap="flat" cmpd="sng" algn="ctr">
                      <a:solidFill>
                        <a:srgbClr val="108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08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08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08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907509"/>
                  </a:ext>
                </a:extLst>
              </a:tr>
              <a:tr h="105183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Docker </a:t>
                      </a:r>
                      <a:r>
                        <a:rPr lang="zh-TW" alt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影響</a:t>
                      </a:r>
                    </a:p>
                  </a:txBody>
                  <a:tcPr marL="5421" marR="5421" marT="3614" marB="361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altLang="zh-TW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Docker </a:t>
                      </a:r>
                      <a:r>
                        <a:rPr lang="zh-TW" altLang="en-US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在 </a:t>
                      </a:r>
                      <a:r>
                        <a:rPr lang="en-US" altLang="zh-TW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CT </a:t>
                      </a:r>
                      <a:r>
                        <a:rPr lang="zh-TW" altLang="en-US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內運行 </a:t>
                      </a:r>
                      <a:r>
                        <a:rPr lang="en-US" altLang="zh-TW" sz="1400" dirty="0" err="1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Ollama</a:t>
                      </a:r>
                      <a:r>
                        <a:rPr lang="en-US" altLang="zh-TW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zh-TW" altLang="en-US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時，只需確保容器具有對傳遞進來的 </a:t>
                      </a:r>
                      <a:r>
                        <a:rPr lang="en-US" altLang="zh-TW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/dev/</a:t>
                      </a:r>
                      <a:r>
                        <a:rPr lang="en-US" altLang="zh-TW" sz="1400" dirty="0" err="1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nvidia</a:t>
                      </a:r>
                      <a:r>
                        <a:rPr lang="en-US" altLang="zh-TW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* </a:t>
                      </a:r>
                      <a:r>
                        <a:rPr lang="zh-TW" altLang="en-US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裝置節點的權限。</a:t>
                      </a:r>
                    </a:p>
                  </a:txBody>
                  <a:tcPr marL="5421" marR="5421" marT="3614" marB="361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08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Docker </a:t>
                      </a:r>
                      <a:r>
                        <a:rPr lang="zh-TW" altLang="en-US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在 </a:t>
                      </a:r>
                      <a:r>
                        <a:rPr lang="en-US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VM </a:t>
                      </a:r>
                      <a:r>
                        <a:rPr lang="zh-TW" altLang="en-US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內運行 </a:t>
                      </a:r>
                      <a:r>
                        <a:rPr lang="en-US" sz="1400" dirty="0" err="1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Ollama</a:t>
                      </a:r>
                      <a:r>
                        <a:rPr lang="en-US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zh-TW" altLang="en-US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時，只需確保 </a:t>
                      </a:r>
                      <a:r>
                        <a:rPr lang="en-US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VM </a:t>
                      </a:r>
                      <a:r>
                        <a:rPr lang="zh-TW" altLang="en-US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內已正確安裝 </a:t>
                      </a:r>
                      <a:r>
                        <a:rPr lang="en-US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GPU </a:t>
                      </a:r>
                      <a:r>
                        <a:rPr lang="zh-TW" altLang="en-US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驅動，</a:t>
                      </a:r>
                      <a:r>
                        <a:rPr lang="en-US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Docker </a:t>
                      </a:r>
                      <a:r>
                        <a:rPr lang="zh-TW" altLang="en-US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就能透過 </a:t>
                      </a:r>
                      <a:r>
                        <a:rPr lang="en-US" sz="1400" dirty="0" err="1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nvidia</a:t>
                      </a:r>
                      <a:r>
                        <a:rPr lang="en-US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-container-toolkit </a:t>
                      </a:r>
                      <a:r>
                        <a:rPr lang="zh-TW" altLang="en-US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存取 </a:t>
                      </a:r>
                      <a:r>
                        <a:rPr lang="en-US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GPU。</a:t>
                      </a:r>
                    </a:p>
                  </a:txBody>
                  <a:tcPr marL="0" marR="0" marT="3614" marB="3614" anchor="b">
                    <a:lnL w="7620" cap="flat" cmpd="sng" algn="ctr">
                      <a:solidFill>
                        <a:srgbClr val="B08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08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08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08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0953113"/>
                  </a:ext>
                </a:extLst>
              </a:tr>
            </a:tbl>
          </a:graphicData>
        </a:graphic>
      </p:graphicFrame>
      <p:sp>
        <p:nvSpPr>
          <p:cNvPr id="8" name="文字方塊 7">
            <a:extLst>
              <a:ext uri="{FF2B5EF4-FFF2-40B4-BE49-F238E27FC236}">
                <a16:creationId xmlns:a16="http://schemas.microsoft.com/office/drawing/2014/main" id="{CD6CA371-60CA-8374-9FD4-F08BC46A5C43}"/>
              </a:ext>
            </a:extLst>
          </p:cNvPr>
          <p:cNvSpPr txBox="1"/>
          <p:nvPr/>
        </p:nvSpPr>
        <p:spPr>
          <a:xfrm>
            <a:off x="516548" y="298828"/>
            <a:ext cx="1041228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TW" dirty="0" err="1"/>
              <a:t>Proxmox</a:t>
            </a:r>
            <a:r>
              <a:rPr lang="en-US" altLang="zh-TW" dirty="0"/>
              <a:t> CT (LXC) </a:t>
            </a:r>
            <a:r>
              <a:rPr lang="zh-TW" altLang="en-US" dirty="0"/>
              <a:t>和 </a:t>
            </a:r>
            <a:r>
              <a:rPr lang="en-US" altLang="zh-TW" dirty="0"/>
              <a:t>VM (KVM) </a:t>
            </a:r>
            <a:r>
              <a:rPr lang="zh-TW" altLang="en-US" dirty="0"/>
              <a:t>運行 </a:t>
            </a:r>
            <a:r>
              <a:rPr lang="en-US" altLang="zh-TW" dirty="0" err="1"/>
              <a:t>Ollama</a:t>
            </a:r>
            <a:r>
              <a:rPr lang="en-US" altLang="zh-TW" dirty="0"/>
              <a:t> </a:t>
            </a:r>
            <a:r>
              <a:rPr lang="zh-TW" altLang="en-US" dirty="0"/>
              <a:t>存取 </a:t>
            </a:r>
            <a:r>
              <a:rPr lang="en-US" altLang="zh-TW" dirty="0"/>
              <a:t>GPU </a:t>
            </a:r>
            <a:r>
              <a:rPr lang="zh-TW" altLang="en-US" dirty="0"/>
              <a:t>資源的差異分析：</a:t>
            </a:r>
          </a:p>
          <a:p>
            <a:pPr>
              <a:buNone/>
            </a:pPr>
            <a:br>
              <a:rPr lang="zh-TW" altLang="en-US" dirty="0"/>
            </a:br>
            <a:endParaRPr lang="zh-TW" altLang="en-US" dirty="0"/>
          </a:p>
          <a:p>
            <a:pPr>
              <a:buNone/>
            </a:pPr>
            <a:r>
              <a:rPr lang="zh-TW" altLang="en-US" b="1" dirty="0"/>
              <a:t>💻 </a:t>
            </a:r>
            <a:r>
              <a:rPr lang="en-US" altLang="zh-TW" b="1" dirty="0"/>
              <a:t>GPU </a:t>
            </a:r>
            <a:r>
              <a:rPr lang="zh-TW" altLang="en-US" b="1" dirty="0"/>
              <a:t>資源存取差異比較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3C8FEAA5-023C-3D45-AC15-A12FE78D4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8802" y="340937"/>
            <a:ext cx="1956986" cy="310923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5B87A7F5-695E-3756-2372-2388510673DD}"/>
              </a:ext>
            </a:extLst>
          </p:cNvPr>
          <p:cNvSpPr txBox="1"/>
          <p:nvPr/>
        </p:nvSpPr>
        <p:spPr>
          <a:xfrm>
            <a:off x="5800164" y="6383487"/>
            <a:ext cx="3600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由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Gemini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整理提供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請驗證正確性</a:t>
            </a:r>
          </a:p>
        </p:txBody>
      </p:sp>
    </p:spTree>
    <p:extLst>
      <p:ext uri="{BB962C8B-B14F-4D97-AF65-F5344CB8AC3E}">
        <p14:creationId xmlns:p14="http://schemas.microsoft.com/office/powerpoint/2010/main" val="25957094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6CB417-ECC2-F452-211D-DB6103E35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6C876D0-80CE-59F3-6D54-D6BF38E235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399F97C-0D55-439D-BBE1-43F150311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02211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784C6706-358F-3D0E-ABD1-295C4A42DA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9630" y="4001294"/>
            <a:ext cx="6650254" cy="2812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9581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51A8F400-9AA9-16F5-2371-4E3DB03CF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362" y="1127638"/>
            <a:ext cx="2845276" cy="462357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DA5B6782-7B22-0BA0-4A2D-9FAD6C5AA9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5946" y="2803691"/>
            <a:ext cx="1347333" cy="177409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5DEBC85B-E801-0DD2-7D8B-DB61B390F8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4282" y="4195454"/>
            <a:ext cx="1505843" cy="42066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F65552E9-9B72-B411-AC9B-9120C02B8F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5669" y="2229240"/>
            <a:ext cx="2286000" cy="352425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2D51AC1D-9018-7C01-B7E6-D0DFC3AF61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8715" y="3720035"/>
            <a:ext cx="1437215" cy="495839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9F62B3C8-FAB3-71E7-68A7-C35921E3F785}"/>
              </a:ext>
            </a:extLst>
          </p:cNvPr>
          <p:cNvSpPr txBox="1"/>
          <p:nvPr/>
        </p:nvSpPr>
        <p:spPr>
          <a:xfrm>
            <a:off x="7645161" y="3006990"/>
            <a:ext cx="1494692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CT-101</a:t>
            </a:r>
            <a:endParaRPr lang="zh-TW" altLang="en-US" dirty="0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4B0383A3-5F8D-BF18-58E0-598E5EAB83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38107" y="4866153"/>
            <a:ext cx="2114285" cy="1005152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27E8F650-A9AC-A605-8305-111A337A1C1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34100" y="1478213"/>
            <a:ext cx="1149148" cy="647536"/>
          </a:xfrm>
          <a:prstGeom prst="rect">
            <a:avLst/>
          </a:prstGeom>
        </p:spPr>
      </p:pic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996F5725-CE93-EB6D-FDF2-E460AB4E6A04}"/>
              </a:ext>
            </a:extLst>
          </p:cNvPr>
          <p:cNvCxnSpPr>
            <a:cxnSpLocks/>
          </p:cNvCxnSpPr>
          <p:nvPr/>
        </p:nvCxnSpPr>
        <p:spPr>
          <a:xfrm flipV="1">
            <a:off x="5549153" y="5243023"/>
            <a:ext cx="2385145" cy="799477"/>
          </a:xfrm>
          <a:prstGeom prst="straightConnector1">
            <a:avLst/>
          </a:prstGeom>
          <a:ln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E2265A79-5D17-3CAE-7CA6-A1082436B00F}"/>
              </a:ext>
            </a:extLst>
          </p:cNvPr>
          <p:cNvSpPr txBox="1"/>
          <p:nvPr/>
        </p:nvSpPr>
        <p:spPr>
          <a:xfrm>
            <a:off x="2895249" y="2918116"/>
            <a:ext cx="1494692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VM-103</a:t>
            </a:r>
            <a:endParaRPr lang="zh-TW" altLang="en-US" dirty="0"/>
          </a:p>
        </p:txBody>
      </p:sp>
      <p:sp>
        <p:nvSpPr>
          <p:cNvPr id="17" name="手繪多邊形: 圖案 16">
            <a:extLst>
              <a:ext uri="{FF2B5EF4-FFF2-40B4-BE49-F238E27FC236}">
                <a16:creationId xmlns:a16="http://schemas.microsoft.com/office/drawing/2014/main" id="{EC4EDA3E-61F0-05C3-5E39-428BC9B3A11A}"/>
              </a:ext>
            </a:extLst>
          </p:cNvPr>
          <p:cNvSpPr/>
          <p:nvPr/>
        </p:nvSpPr>
        <p:spPr>
          <a:xfrm>
            <a:off x="6321669" y="1890346"/>
            <a:ext cx="1292469" cy="1406227"/>
          </a:xfrm>
          <a:custGeom>
            <a:avLst/>
            <a:gdLst>
              <a:gd name="connsiteX0" fmla="*/ 0 w 1292469"/>
              <a:gd name="connsiteY0" fmla="*/ 0 h 1406227"/>
              <a:gd name="connsiteX1" fmla="*/ 61546 w 1292469"/>
              <a:gd name="connsiteY1" fmla="*/ 369277 h 1406227"/>
              <a:gd name="connsiteX2" fmla="*/ 237393 w 1292469"/>
              <a:gd name="connsiteY2" fmla="*/ 1283677 h 1406227"/>
              <a:gd name="connsiteX3" fmla="*/ 1292469 w 1292469"/>
              <a:gd name="connsiteY3" fmla="*/ 1371600 h 14062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2469" h="1406227">
                <a:moveTo>
                  <a:pt x="0" y="0"/>
                </a:moveTo>
                <a:cubicBezTo>
                  <a:pt x="10990" y="77665"/>
                  <a:pt x="21980" y="155331"/>
                  <a:pt x="61546" y="369277"/>
                </a:cubicBezTo>
                <a:cubicBezTo>
                  <a:pt x="101112" y="583223"/>
                  <a:pt x="32239" y="1116623"/>
                  <a:pt x="237393" y="1283677"/>
                </a:cubicBezTo>
                <a:cubicBezTo>
                  <a:pt x="442547" y="1450731"/>
                  <a:pt x="867508" y="1411165"/>
                  <a:pt x="1292469" y="137160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C8BE7FC1-886A-4298-E465-38D39DC70C08}"/>
              </a:ext>
            </a:extLst>
          </p:cNvPr>
          <p:cNvSpPr txBox="1"/>
          <p:nvPr/>
        </p:nvSpPr>
        <p:spPr>
          <a:xfrm>
            <a:off x="7368988" y="1673206"/>
            <a:ext cx="38649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NVIDIA-Linux-x86_64-580.95.05.run</a:t>
            </a:r>
            <a:endParaRPr lang="zh-TW" altLang="en-US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3C261894-E5AA-2A9A-C85A-4882A569984D}"/>
              </a:ext>
            </a:extLst>
          </p:cNvPr>
          <p:cNvSpPr txBox="1"/>
          <p:nvPr/>
        </p:nvSpPr>
        <p:spPr>
          <a:xfrm>
            <a:off x="7934298" y="4405784"/>
            <a:ext cx="4100287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000" dirty="0"/>
              <a:t>/</a:t>
            </a:r>
            <a:r>
              <a:rPr lang="en-US" altLang="zh-TW" sz="1000" dirty="0" err="1"/>
              <a:t>etc</a:t>
            </a:r>
            <a:r>
              <a:rPr lang="en-US" altLang="zh-TW" sz="1000" dirty="0"/>
              <a:t>/</a:t>
            </a:r>
            <a:r>
              <a:rPr lang="en-US" altLang="zh-TW" sz="1000" dirty="0" err="1"/>
              <a:t>systemd</a:t>
            </a:r>
            <a:r>
              <a:rPr lang="en-US" altLang="zh-TW" sz="1000" dirty="0"/>
              <a:t>/system/</a:t>
            </a:r>
            <a:r>
              <a:rPr lang="en-US" altLang="zh-TW" sz="1000" dirty="0" err="1"/>
              <a:t>ollama.service</a:t>
            </a:r>
            <a:endParaRPr lang="en-US" altLang="zh-TW" sz="1000" dirty="0"/>
          </a:p>
          <a:p>
            <a:endParaRPr lang="en-US" altLang="zh-TW" sz="1000" dirty="0"/>
          </a:p>
          <a:p>
            <a:endParaRPr lang="en-US" altLang="zh-TW" sz="1000" dirty="0"/>
          </a:p>
          <a:p>
            <a:r>
              <a:rPr lang="en-US" altLang="zh-TW" sz="1000" dirty="0"/>
              <a:t>[Service]</a:t>
            </a:r>
          </a:p>
          <a:p>
            <a:r>
              <a:rPr lang="en-US" altLang="zh-TW" sz="1000" dirty="0"/>
              <a:t>…</a:t>
            </a:r>
          </a:p>
          <a:p>
            <a:r>
              <a:rPr lang="en-US" altLang="zh-TW" sz="1000" dirty="0"/>
              <a:t>Environment="OLLAMA_HOST=0.0.0.0"</a:t>
            </a:r>
          </a:p>
          <a:p>
            <a:endParaRPr lang="zh-TW" altLang="en-US" sz="1000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E5C4C49B-5255-48FC-BC76-2E32673F8362}"/>
              </a:ext>
            </a:extLst>
          </p:cNvPr>
          <p:cNvSpPr txBox="1"/>
          <p:nvPr/>
        </p:nvSpPr>
        <p:spPr>
          <a:xfrm>
            <a:off x="7614138" y="3431148"/>
            <a:ext cx="449717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000" dirty="0"/>
              <a:t>apt install nvidia-utils-580 libnvidia-compute-580 libnvidia-decode-580 -y</a:t>
            </a:r>
          </a:p>
        </p:txBody>
      </p: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0A4B7F38-D4BB-498F-9F6B-FEC8883BF7B5}"/>
              </a:ext>
            </a:extLst>
          </p:cNvPr>
          <p:cNvCxnSpPr/>
          <p:nvPr/>
        </p:nvCxnSpPr>
        <p:spPr>
          <a:xfrm>
            <a:off x="10685930" y="2042538"/>
            <a:ext cx="0" cy="1060244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BBE435D3-1322-D02D-31D4-E8842EB2FC06}"/>
              </a:ext>
            </a:extLst>
          </p:cNvPr>
          <p:cNvSpPr txBox="1"/>
          <p:nvPr/>
        </p:nvSpPr>
        <p:spPr>
          <a:xfrm>
            <a:off x="10662139" y="2423334"/>
            <a:ext cx="115435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000" dirty="0" err="1"/>
              <a:t>nvidia</a:t>
            </a:r>
            <a:endParaRPr lang="en-US" altLang="zh-TW" sz="1000" dirty="0"/>
          </a:p>
          <a:p>
            <a:r>
              <a:rPr lang="zh-TW" altLang="en-US" sz="1000" dirty="0"/>
              <a:t>版本要一致</a:t>
            </a:r>
            <a:endParaRPr lang="en-US" altLang="zh-TW" sz="1000" dirty="0"/>
          </a:p>
          <a:p>
            <a:r>
              <a:rPr lang="zh-TW" altLang="en-US" sz="1000" dirty="0"/>
              <a:t>注意</a:t>
            </a:r>
            <a:r>
              <a:rPr lang="en-US" altLang="zh-TW" sz="1000" dirty="0"/>
              <a:t>580</a:t>
            </a:r>
            <a:r>
              <a:rPr lang="zh-TW" altLang="en-US" sz="1000" dirty="0"/>
              <a:t>後的數字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0E129DA2-283C-CC68-A360-E1FF14C149BA}"/>
              </a:ext>
            </a:extLst>
          </p:cNvPr>
          <p:cNvSpPr txBox="1"/>
          <p:nvPr/>
        </p:nvSpPr>
        <p:spPr>
          <a:xfrm>
            <a:off x="325804" y="6033375"/>
            <a:ext cx="620946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000" dirty="0"/>
              <a:t>docker run -d     --name open-webui     -p 3000:8080     -e OLLAMA_BASE_URL=http://</a:t>
            </a:r>
            <a:r>
              <a:rPr lang="en-US" altLang="zh-TW" sz="1000" dirty="0"/>
              <a:t>CT-101–</a:t>
            </a:r>
            <a:r>
              <a:rPr lang="en-US" altLang="zh-TW" sz="1000" dirty="0" err="1"/>
              <a:t>ip</a:t>
            </a:r>
            <a:r>
              <a:rPr lang="en-US" altLang="zh-TW" sz="1000" dirty="0"/>
              <a:t>-address</a:t>
            </a:r>
            <a:r>
              <a:rPr lang="zh-TW" altLang="en-US" sz="1000" dirty="0"/>
              <a:t>:11434</a:t>
            </a: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4F59C31A-8CCA-6C55-02ED-92904C2E91AF}"/>
              </a:ext>
            </a:extLst>
          </p:cNvPr>
          <p:cNvSpPr txBox="1"/>
          <p:nvPr/>
        </p:nvSpPr>
        <p:spPr>
          <a:xfrm>
            <a:off x="6387952" y="2300053"/>
            <a:ext cx="3048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000" dirty="0"/>
              <a:t>ubuntu-24.04-standard_24.04-2_amd64.tar.zst</a:t>
            </a:r>
          </a:p>
        </p:txBody>
      </p:sp>
    </p:spTree>
    <p:extLst>
      <p:ext uri="{BB962C8B-B14F-4D97-AF65-F5344CB8AC3E}">
        <p14:creationId xmlns:p14="http://schemas.microsoft.com/office/powerpoint/2010/main" val="6135499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398</TotalTime>
  <Words>810</Words>
  <Application>Microsoft Office PowerPoint</Application>
  <PresentationFormat>寬螢幕</PresentationFormat>
  <Paragraphs>92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4" baseType="lpstr">
      <vt:lpstr>微軟正黑體</vt:lpstr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莊濟安</dc:creator>
  <cp:lastModifiedBy>莊濟安</cp:lastModifiedBy>
  <cp:revision>16</cp:revision>
  <dcterms:created xsi:type="dcterms:W3CDTF">2025-11-21T01:43:46Z</dcterms:created>
  <dcterms:modified xsi:type="dcterms:W3CDTF">2025-12-03T03:59:33Z</dcterms:modified>
</cp:coreProperties>
</file>